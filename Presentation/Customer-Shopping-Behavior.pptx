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bin" pitchFamily="2" charset="77"/>
      <p:regular r:id="rId13"/>
    </p:embeddedFont>
    <p:embeddedFont>
      <p:font typeface="Cabin Bold" pitchFamily="2" charset="77"/>
      <p:regular r:id="rId14"/>
      <p:bold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Unbounded" pitchFamily="2" charset="77"/>
      <p:regular r:id="rId20"/>
    </p:embeddedFont>
    <p:embeddedFont>
      <p:font typeface="Unbounded Bold" pitchFamily="2" charset="77"/>
      <p:regular r:id="rId21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4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6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ayesh-analytics.github.io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jayesh-s-5566b922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431131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Shopping Behavior Analysis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903637"/>
            <a:ext cx="6223638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Turning 3,900 retail transactions into pricing, loyalty and marketing decisions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Jayesh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Data Analyst  |  Python · MySQL · Power BI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309864"/>
            <a:ext cx="6223638" cy="1116905"/>
          </a:xfrm>
          <a:prstGeom prst="roundRect">
            <a:avLst>
              <a:gd name="adj" fmla="val 2679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510" y="4600476"/>
            <a:ext cx="249330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6266" y="4559102"/>
            <a:ext cx="5376033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 dataset, three tools, five decisions the business can act on this quarter.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04738"/>
            <a:ext cx="6223638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Business Problem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69971" y="1364555"/>
            <a:ext cx="6833223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US apparel retailer could see revenue — but not what moved it.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811238"/>
            <a:ext cx="6223638" cy="10180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2816" y="2007890"/>
            <a:ext cx="57541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Shifting Patterns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542816" y="2363986"/>
            <a:ext cx="575414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Purchasing patterns shifting across demographics, categories and channels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2987477"/>
            <a:ext cx="6223638" cy="10180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2816" y="3184128"/>
            <a:ext cx="57541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Multiple Levers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542816" y="3540224"/>
            <a:ext cx="575414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Discounts, subscriptions and shipping upgrades all running at once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4163715"/>
            <a:ext cx="6223638" cy="10180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42816" y="4360366"/>
            <a:ext cx="5754147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Visibility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542816" y="4716463"/>
            <a:ext cx="5754147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view of which lever was actually paying for itself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536367" y="5537795"/>
            <a:ext cx="5957242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question: How can the company use consumer shopping data to identify trends, improve engagement, and optimise marketing and product strategy?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5269971" y="5359797"/>
            <a:ext cx="19050" cy="893366"/>
          </a:xfrm>
          <a:prstGeom prst="roundRect">
            <a:avLst>
              <a:gd name="adj" fmla="val 49999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7312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Data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506934"/>
            <a:ext cx="3461953" cy="5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3,900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98086" y="2316758"/>
            <a:ext cx="346195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Transactions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364821" y="1506934"/>
            <a:ext cx="3461953" cy="5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4364821" y="2316758"/>
            <a:ext cx="346195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Columns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64821" y="2680891"/>
            <a:ext cx="346195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18 raw → 19 after cleaning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31557" y="1506934"/>
            <a:ext cx="3462052" cy="5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$233K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8031557" y="2316758"/>
            <a:ext cx="3462052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Revenue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031557" y="2680891"/>
            <a:ext cx="346205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$233,081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31404" y="3374529"/>
            <a:ext cx="3462052" cy="5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$59.76</a:t>
            </a:r>
            <a:endParaRPr lang="en-US" sz="4650" dirty="0"/>
          </a:p>
        </p:txBody>
      </p:sp>
      <p:sp>
        <p:nvSpPr>
          <p:cNvPr id="12" name="Text 10"/>
          <p:cNvSpPr/>
          <p:nvPr/>
        </p:nvSpPr>
        <p:spPr>
          <a:xfrm>
            <a:off x="2531404" y="4184352"/>
            <a:ext cx="3462052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Average Order Value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198239" y="3374529"/>
            <a:ext cx="3461953" cy="596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3.75</a:t>
            </a:r>
            <a:endParaRPr lang="en-US" sz="4650" dirty="0"/>
          </a:p>
        </p:txBody>
      </p:sp>
      <p:sp>
        <p:nvSpPr>
          <p:cNvPr id="14" name="Text 12"/>
          <p:cNvSpPr/>
          <p:nvPr/>
        </p:nvSpPr>
        <p:spPr>
          <a:xfrm>
            <a:off x="6198239" y="4184352"/>
            <a:ext cx="346195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Average Review Rating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198239" y="4548485"/>
            <a:ext cx="3461953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 of 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8013" y="5008364"/>
            <a:ext cx="5437448" cy="1292225"/>
          </a:xfrm>
          <a:prstGeom prst="roundRect">
            <a:avLst>
              <a:gd name="adj" fmla="val 2098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8785" y="5172174"/>
            <a:ext cx="507590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Coverage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48785" y="5601891"/>
            <a:ext cx="5685489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50 US states · 4 categories · 25 products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2656" y="5172174"/>
            <a:ext cx="5177303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Types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22656" y="5601891"/>
            <a:ext cx="517730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Demographics · purchase details · behaviour (discounts, subscriptions, shipping, loyalty)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9218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Approach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11895"/>
            <a:ext cx="483084" cy="483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5122" y="1511895"/>
            <a:ext cx="4563750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Python (pandas)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15122" y="1908274"/>
            <a:ext cx="4563750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Cleaning, missing-value treatment, feature engineering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2823" y="1511895"/>
            <a:ext cx="483084" cy="483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9859" y="1511895"/>
            <a:ext cx="4563750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MySQL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929859" y="1908274"/>
            <a:ext cx="4563750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Structured table + 10 business queries (CTEs, window functions)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891433"/>
            <a:ext cx="483084" cy="4830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5122" y="2891433"/>
            <a:ext cx="4563750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415122" y="3287812"/>
            <a:ext cx="4563750" cy="608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One-page interactive dashboard with KPI cards and slicers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2823" y="2891433"/>
            <a:ext cx="483084" cy="4830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9859" y="2891433"/>
            <a:ext cx="4563750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Report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929859" y="3287812"/>
            <a:ext cx="4563750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Findings translated into recommendations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98086" y="4177407"/>
            <a:ext cx="10795524" cy="454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Prep Decisions</a:t>
            </a:r>
            <a:endParaRPr lang="en-US" sz="2850" dirty="0"/>
          </a:p>
        </p:txBody>
      </p:sp>
      <p:sp>
        <p:nvSpPr>
          <p:cNvPr id="16" name="Shape 10"/>
          <p:cNvSpPr/>
          <p:nvPr/>
        </p:nvSpPr>
        <p:spPr>
          <a:xfrm>
            <a:off x="698086" y="4912816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79096" y="4959697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319973" y="4979194"/>
            <a:ext cx="2820619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Missing Ratings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1319973" y="5375573"/>
            <a:ext cx="2820619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37 missing ratings filled with category medians (no rows dropped)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374544" y="4912816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4455555" y="4959697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4996432" y="4979194"/>
            <a:ext cx="2820619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Duplicate Column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4996432" y="5375573"/>
            <a:ext cx="2820619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Promo Code Used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proved to be an exact duplicate of </a:t>
            </a:r>
            <a:r>
              <a:rPr lang="en-US" sz="1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Discount Applied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removed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8051003" y="4912816"/>
            <a:ext cx="434766" cy="434777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8132013" y="4959697"/>
            <a:ext cx="272746" cy="3410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8672891" y="4979194"/>
            <a:ext cx="2820718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27" name="Text 21"/>
          <p:cNvSpPr/>
          <p:nvPr/>
        </p:nvSpPr>
        <p:spPr>
          <a:xfrm>
            <a:off x="8672891" y="5375573"/>
            <a:ext cx="282071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Engineered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(quartiles) and </a:t>
            </a:r>
            <a:r>
              <a:rPr lang="en-US" sz="15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81967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Finding 1: Discounts Aren't Working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805311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43% of orders (1,677) carry a discount.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54520" y="3348831"/>
            <a:ext cx="5441615" cy="1689497"/>
          </a:xfrm>
          <a:prstGeom prst="roundRect">
            <a:avLst>
              <a:gd name="adj" fmla="val 177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3944" y="3548261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Average Order Value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3944" y="4040981"/>
            <a:ext cx="5042766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Discounted: </a:t>
            </a:r>
            <a:r>
              <a:rPr lang="en-US" sz="1550" b="1" dirty="0">
                <a:solidFill>
                  <a:srgbClr val="000000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$59.28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price: </a:t>
            </a:r>
            <a:r>
              <a:rPr lang="en-US" sz="1550" b="1" dirty="0">
                <a:solidFill>
                  <a:srgbClr val="000000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$60.13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345476" y="3548261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5476" y="4040981"/>
            <a:ext cx="5154484" cy="817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Discounted customers spend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less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not more.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programme transfers margin without lifting basket size.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8359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Finding 2: Half the Base Is Untouched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269232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 discount and every active subscription in this dataset belongs to a male customer.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2812752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7510" y="301218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Male Customers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7510" y="3425130"/>
            <a:ext cx="306667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63.2% discounted · 39.7% subscribed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63035" y="2812752"/>
            <a:ext cx="3465525" cy="1769368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62460" y="3012182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Female Customers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62460" y="3425130"/>
            <a:ext cx="30666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0% on both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027985" y="2812752"/>
            <a:ext cx="3465624" cy="1769368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7410" y="3012182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Female Revenue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7410" y="3425130"/>
            <a:ext cx="306677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Female customers still generate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$75,191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at a higher AOV ($60.25 vs. $59.54)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97223" y="5030788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entire segment is buying at full price without ever being targeted.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8086" y="4806454"/>
            <a:ext cx="25399" cy="767854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1774"/>
            <a:ext cx="107955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Finding 3: Loyalty Without Subscription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274094"/>
            <a:ext cx="10795524" cy="2316559"/>
          </a:xfrm>
          <a:prstGeom prst="roundRect">
            <a:avLst>
              <a:gd name="adj" fmla="val 129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8086" y="2854821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8086" y="3432373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8086" y="4009926"/>
            <a:ext cx="10795524" cy="12468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3860" y="2406452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Segment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295272" y="2406452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Customers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03860" y="2984004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Loyal (11+ prior orders)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95272" y="2984004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3,116 (79.9%)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03860" y="3561556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Returning (2–10)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295272" y="3561556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701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03860" y="4139109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New (1)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95272" y="4139109"/>
            <a:ext cx="5602147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83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98086" y="4814987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Among repeat buyers with 5+ prior purchases, only </a:t>
            </a: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27.6% subscribe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8086" y="5358507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08786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10" y="5649119"/>
            <a:ext cx="249330" cy="1994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46266" y="5607745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repeat behaviour a subscription is meant to create has already happened — it just isn't being converted.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232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Finding 4: The Flat Segments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17960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Almost every "obvious" way to slice this business is flat: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161480"/>
            <a:ext cx="3465525" cy="15009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507" y="2386310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Season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24507" y="2799259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7.6% spread ($55,777 Summer → $60,018 Fall)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3035" y="2161480"/>
            <a:ext cx="3465525" cy="15009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89457" y="2386310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Age Quartiles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689457" y="2799259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23.9% – 26.7% revenue share each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7985" y="2161480"/>
            <a:ext cx="3465624" cy="15009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54407" y="2386310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Payment Methods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354407" y="2799259"/>
            <a:ext cx="291437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six within 1% of each other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861891"/>
            <a:ext cx="3465525" cy="1820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4507" y="4086721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Shipping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1024507" y="4499670"/>
            <a:ext cx="291427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$2.27 AOV spread across six options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035" y="3861891"/>
            <a:ext cx="3465525" cy="1820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89457" y="4086721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Category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689457" y="4499670"/>
            <a:ext cx="291427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Revenue driven by order volume, not basket size (AOV $57.17 – $60.26)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98086" y="590639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Best-selling ≠ best-rated: Blouse, Shirt, Dress lead revenue; Gloves (3.86), Sandals (3.84), Boots (3.82) lead ratings.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899"/>
            <a:ext cx="10795524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Recommendations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78" y="1362918"/>
            <a:ext cx="257069" cy="2570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5086" y="1357610"/>
            <a:ext cx="1023852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Cap the discount programme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255086" y="1698030"/>
            <a:ext cx="1023852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Reserve it for reactivation and first orders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78" y="2252911"/>
            <a:ext cx="257069" cy="2570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5086" y="2247602"/>
            <a:ext cx="1023852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Trigger a subscription offer at the 5th purchase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255086" y="2588022"/>
            <a:ext cx="1023852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loyalty already exists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78" y="3142903"/>
            <a:ext cx="257069" cy="2570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55086" y="3137595"/>
            <a:ext cx="1023852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Open discounts and subscriptions to female customers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255086" y="3478014"/>
            <a:ext cx="1023852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Untouched, full-price segment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78" y="4032895"/>
            <a:ext cx="257069" cy="2570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55086" y="4027587"/>
            <a:ext cx="1023852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Bundle high-rated accessories with high-volume apparel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255086" y="4368006"/>
            <a:ext cx="1023852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Lift baskets where discounts failed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378" y="4922887"/>
            <a:ext cx="257069" cy="2570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55086" y="4917579"/>
            <a:ext cx="10238524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on behaviour, not season / age / payment method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255086" y="5257998"/>
            <a:ext cx="1023852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rest are cosmetic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98086" y="5678686"/>
            <a:ext cx="10795524" cy="620316"/>
          </a:xfrm>
          <a:prstGeom prst="roundRect">
            <a:avLst>
              <a:gd name="adj" fmla="val 4145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32" y="5890121"/>
            <a:ext cx="214208" cy="17135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54987" y="5868690"/>
            <a:ext cx="10676861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Limitation:</a:t>
            </a:r>
            <a:r>
              <a:rPr lang="en-US" sz="13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Single cross-sectional snapshot, no order dates — cohort retention and CLV need timestamps.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3707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322711"/>
            <a:ext cx="10795524" cy="1725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Customer Shopping Behavior Analysis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Python · MySQL · Power BI</a:t>
            </a:r>
            <a:endParaRPr lang="en-US" sz="1550" dirty="0"/>
          </a:p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Jayesh 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Data Analyst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Let's connect — I'm always open to discussing data, analytics, and new opportunities.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98086" y="4272459"/>
            <a:ext cx="5298049" cy="704850"/>
          </a:xfrm>
          <a:prstGeom prst="roundRect">
            <a:avLst>
              <a:gd name="adj" fmla="val 424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7510" y="4471888"/>
            <a:ext cx="489920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🔗</a:t>
            </a:r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Portfolio &amp; GitHub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195560" y="4272459"/>
            <a:ext cx="5298049" cy="704850"/>
          </a:xfrm>
          <a:prstGeom prst="roundRect">
            <a:avLst>
              <a:gd name="adj" fmla="val 4245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94985" y="4471888"/>
            <a:ext cx="489920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💼</a:t>
            </a:r>
            <a:r>
              <a:rPr lang="en-US" sz="1800" b="1" dirty="0">
                <a:solidFill>
                  <a:srgbClr val="0A988B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98086" y="5201642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>
              <a:solidFill>
                <a:srgbClr val="CAD6DE"/>
              </a:solidFill>
              <a:latin typeface="Cabin" pitchFamily="34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678</Words>
  <Application>Microsoft Macintosh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Unbounded</vt:lpstr>
      <vt:lpstr>Consolas</vt:lpstr>
      <vt:lpstr>Unbounded Bold</vt:lpstr>
      <vt:lpstr>Cabin Bold</vt:lpstr>
      <vt:lpstr>Arial</vt:lpstr>
      <vt:lpstr>Cabin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jayesh suthar</cp:lastModifiedBy>
  <cp:revision>3</cp:revision>
  <dcterms:created xsi:type="dcterms:W3CDTF">2026-08-20T16:46:27Z</dcterms:created>
  <dcterms:modified xsi:type="dcterms:W3CDTF">2026-08-20T17:27:15Z</dcterms:modified>
</cp:coreProperties>
</file>